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handoutMasterIdLst>
    <p:handoutMasterId r:id="rId23"/>
  </p:handoutMasterIdLst>
  <p:sldIdLst>
    <p:sldId id="256" r:id="rId2"/>
    <p:sldId id="326" r:id="rId3"/>
    <p:sldId id="325" r:id="rId4"/>
    <p:sldId id="324" r:id="rId5"/>
    <p:sldId id="333" r:id="rId6"/>
    <p:sldId id="334" r:id="rId7"/>
    <p:sldId id="346" r:id="rId8"/>
    <p:sldId id="335" r:id="rId9"/>
    <p:sldId id="336" r:id="rId10"/>
    <p:sldId id="338" r:id="rId11"/>
    <p:sldId id="337" r:id="rId12"/>
    <p:sldId id="339" r:id="rId13"/>
    <p:sldId id="340" r:id="rId14"/>
    <p:sldId id="341" r:id="rId15"/>
    <p:sldId id="342" r:id="rId16"/>
    <p:sldId id="327" r:id="rId17"/>
    <p:sldId id="328" r:id="rId18"/>
    <p:sldId id="343" r:id="rId19"/>
    <p:sldId id="344" r:id="rId20"/>
    <p:sldId id="345" r:id="rId21"/>
    <p:sldId id="347" r:id="rId22"/>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876"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A8F71C89-18EF-4961-BE81-5CD593BA08DF}" type="datetimeFigureOut">
              <a:rPr lang="en-US" smtClean="0"/>
              <a:t>8/22/2022</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DB0F5717-2950-4190-B0FC-7B30A57549A1}" type="slidenum">
              <a:rPr lang="en-US" smtClean="0"/>
              <a:t>‹#›</a:t>
            </a:fld>
            <a:endParaRPr lang="en-US"/>
          </a:p>
        </p:txBody>
      </p:sp>
    </p:spTree>
    <p:extLst>
      <p:ext uri="{BB962C8B-B14F-4D97-AF65-F5344CB8AC3E}">
        <p14:creationId xmlns:p14="http://schemas.microsoft.com/office/powerpoint/2010/main" val="1745441136"/>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2.jpg"/><Relationship Id="rId4" Type="http://schemas.openxmlformats.org/officeDocument/2006/relationships/hyperlink" Target="https://twitter.com/_knust_"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t>8/22/2022</a:t>
            </a:fld>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1"/>
            <a:ext cx="9144000" cy="854748"/>
            <a:chOff x="0" y="1"/>
            <a:chExt cx="9144000" cy="854748"/>
          </a:xfrm>
        </p:grpSpPr>
        <p:sp>
          <p:nvSpPr>
            <p:cNvPr id="8" name="Rectangle 7"/>
            <p:cNvSpPr/>
            <p:nvPr/>
          </p:nvSpPr>
          <p:spPr>
            <a:xfrm>
              <a:off x="0" y="1"/>
              <a:ext cx="9144000" cy="854748"/>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5487656" y="241270"/>
              <a:ext cx="3445328" cy="523220"/>
            </a:xfrm>
            <a:prstGeom prst="rect">
              <a:avLst/>
            </a:prstGeom>
            <a:noFill/>
          </p:spPr>
          <p:txBody>
            <a:bodyPr wrap="square" rtlCol="0">
              <a:spAutoFit/>
            </a:bodyPr>
            <a:lstStyle/>
            <a:p>
              <a:r>
                <a:rPr lang="en-US" sz="1400" dirty="0">
                  <a:solidFill>
                    <a:schemeClr val="bg1"/>
                  </a:solidFill>
                  <a:latin typeface="Helvetica"/>
                  <a:cs typeface="Helvetica"/>
                </a:rPr>
                <a:t>Kwame Nkrumah University of </a:t>
              </a:r>
            </a:p>
            <a:p>
              <a:r>
                <a:rPr lang="en-US" sz="1400" dirty="0">
                  <a:solidFill>
                    <a:schemeClr val="bg1"/>
                  </a:solidFill>
                  <a:latin typeface="Helvetica"/>
                  <a:cs typeface="Helvetica"/>
                </a:rPr>
                <a:t>Science &amp; Technology, Kumasi, Ghana</a:t>
              </a: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5789" y="157852"/>
              <a:ext cx="491867" cy="625979"/>
            </a:xfrm>
            <a:prstGeom prst="rect">
              <a:avLst/>
            </a:prstGeom>
          </p:spPr>
        </p:pic>
      </p:grpSp>
      <p:sp>
        <p:nvSpPr>
          <p:cNvPr id="11" name="Title 1"/>
          <p:cNvSpPr>
            <a:spLocks noGrp="1"/>
          </p:cNvSpPr>
          <p:nvPr>
            <p:ph type="ctrTitle"/>
          </p:nvPr>
        </p:nvSpPr>
        <p:spPr>
          <a:xfrm>
            <a:off x="685800" y="2167738"/>
            <a:ext cx="7772400" cy="1470025"/>
          </a:xfrm>
          <a:prstGeom prst="rect">
            <a:avLst/>
          </a:prstGeom>
        </p:spPr>
        <p:txBody>
          <a:bodyPr>
            <a:normAutofit/>
          </a:bodyPr>
          <a:lstStyle/>
          <a:p>
            <a:pPr algn="l"/>
            <a:r>
              <a:rPr lang="en-US" dirty="0">
                <a:latin typeface="Helvetica"/>
                <a:cs typeface="Helvetica"/>
              </a:rPr>
              <a:t>Title</a:t>
            </a:r>
          </a:p>
        </p:txBody>
      </p:sp>
      <p:sp>
        <p:nvSpPr>
          <p:cNvPr id="12" name="Subtitle 2"/>
          <p:cNvSpPr>
            <a:spLocks noGrp="1"/>
          </p:cNvSpPr>
          <p:nvPr>
            <p:ph type="subTitle" idx="1"/>
          </p:nvPr>
        </p:nvSpPr>
        <p:spPr>
          <a:xfrm>
            <a:off x="728506" y="4010849"/>
            <a:ext cx="6400800" cy="1599330"/>
          </a:xfrm>
        </p:spPr>
        <p:txBody>
          <a:bodyPr>
            <a:normAutofit/>
          </a:bodyPr>
          <a:lstStyle>
            <a:lvl1pPr marL="0" indent="0">
              <a:buNone/>
              <a:defRPr>
                <a:solidFill>
                  <a:schemeClr val="bg1">
                    <a:lumMod val="50000"/>
                  </a:schemeClr>
                </a:solidFill>
              </a:defRPr>
            </a:lvl1pPr>
          </a:lstStyle>
          <a:p>
            <a:pPr algn="l"/>
            <a:r>
              <a:rPr lang="en-US" b="1" dirty="0">
                <a:solidFill>
                  <a:schemeClr val="tx1"/>
                </a:solidFill>
                <a:latin typeface="Helvetica"/>
                <a:cs typeface="Helvetica"/>
              </a:rPr>
              <a:t>Name</a:t>
            </a:r>
          </a:p>
          <a:p>
            <a:pPr algn="l"/>
            <a:r>
              <a:rPr lang="en-US" sz="2400" b="1" dirty="0">
                <a:latin typeface="Helvetica"/>
                <a:cs typeface="Helvetica"/>
              </a:rPr>
              <a:t>Department</a:t>
            </a:r>
          </a:p>
          <a:p>
            <a:pPr algn="l"/>
            <a:r>
              <a:rPr lang="en-US" sz="2400" b="1" dirty="0">
                <a:latin typeface="Helvetica"/>
                <a:cs typeface="Helvetica"/>
              </a:rPr>
              <a:t>Faculty &amp; College</a:t>
            </a:r>
          </a:p>
        </p:txBody>
      </p:sp>
    </p:spTree>
    <p:extLst>
      <p:ext uri="{BB962C8B-B14F-4D97-AF65-F5344CB8AC3E}">
        <p14:creationId xmlns:p14="http://schemas.microsoft.com/office/powerpoint/2010/main" val="102668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t>8/22/2022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5992943"/>
            <a:ext cx="9144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457200" y="274638"/>
            <a:ext cx="8229600" cy="1143000"/>
          </a:xfrm>
          <a:prstGeom prst="rect">
            <a:avLst/>
          </a:prstGeom>
        </p:spPr>
        <p:txBody>
          <a:bodyPr/>
          <a:lstStyle/>
          <a:p>
            <a:pPr algn="l"/>
            <a:r>
              <a:rPr lang="en-US" dirty="0">
                <a:solidFill>
                  <a:srgbClr val="008000"/>
                </a:solidFill>
                <a:latin typeface="Helvetica"/>
                <a:cs typeface="Helvetica"/>
              </a:rPr>
              <a:t>Introduction</a:t>
            </a:r>
          </a:p>
        </p:txBody>
      </p:sp>
    </p:spTree>
    <p:extLst>
      <p:ext uri="{BB962C8B-B14F-4D97-AF65-F5344CB8AC3E}">
        <p14:creationId xmlns:p14="http://schemas.microsoft.com/office/powerpoint/2010/main" val="37939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D751C0-DD79-0043-A8DE-0BFEC2DE753E}" type="datetimeFigureOut">
              <a:rPr lang="en-US" smtClean="0"/>
              <a:t>8/22/2022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30215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2D751C0-DD79-0043-A8DE-0BFEC2DE753E}" type="datetimeFigureOut">
              <a:rPr lang="en-US" smtClean="0"/>
              <a:t>8/22/2022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2156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D751C0-DD79-0043-A8DE-0BFEC2DE753E}" type="datetimeFigureOut">
              <a:rPr lang="en-US" smtClean="0"/>
              <a:t>8/22/2022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501875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E2D751C0-DD79-0043-A8DE-0BFEC2DE753E}" type="datetimeFigureOut">
              <a:rPr lang="en-US" smtClean="0"/>
              <a:t>8/22/2022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821190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D751C0-DD79-0043-A8DE-0BFEC2DE753E}" type="datetimeFigureOut">
              <a:rPr lang="en-US" smtClean="0"/>
              <a:t>8/22/2022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112669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D751C0-DD79-0043-A8DE-0BFEC2DE753E}" type="datetimeFigureOut">
              <a:rPr lang="en-US" smtClean="0"/>
              <a:t>8/22/2022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14271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D751C0-DD79-0043-A8DE-0BFEC2DE753E}" type="datetimeFigureOut">
              <a:rPr lang="en-US" smtClean="0"/>
              <a:t>8/22/2022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278298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D751C0-DD79-0043-A8DE-0BFEC2DE753E}" type="datetimeFigureOut">
              <a:rPr lang="en-US" smtClean="0"/>
              <a:t>8/22/2022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1281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D751C0-DD79-0043-A8DE-0BFEC2DE753E}" type="datetimeFigureOut">
              <a:rPr lang="en-US" smtClean="0"/>
              <a:t>8/22/2022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670795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D751C0-DD79-0043-A8DE-0BFEC2DE753E}" type="datetimeFigureOut">
              <a:rPr lang="en-US" smtClean="0"/>
              <a:t>8/22/2022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801FD5-11B4-DE43-ACA2-E85EEB9A6F9C}" type="slidenum">
              <a:rPr lang="en-US" smtClean="0"/>
              <a:t>‹#›</a:t>
            </a:fld>
            <a:endParaRPr lang="en-US"/>
          </a:p>
        </p:txBody>
      </p:sp>
    </p:spTree>
    <p:extLst>
      <p:ext uri="{BB962C8B-B14F-4D97-AF65-F5344CB8AC3E}">
        <p14:creationId xmlns:p14="http://schemas.microsoft.com/office/powerpoint/2010/main" val="295433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685800" y="1104220"/>
            <a:ext cx="7772400" cy="604265"/>
          </a:xfrm>
        </p:spPr>
        <p:txBody>
          <a:bodyPr>
            <a:noAutofit/>
          </a:bodyPr>
          <a:lstStyle/>
          <a:p>
            <a:endParaRPr lang="en-US" sz="3000" b="1" dirty="0">
              <a:latin typeface="Helvetica"/>
              <a:cs typeface="Helvetica"/>
            </a:endParaRPr>
          </a:p>
        </p:txBody>
      </p:sp>
      <p:sp>
        <p:nvSpPr>
          <p:cNvPr id="5" name="Subtitle 2"/>
          <p:cNvSpPr>
            <a:spLocks noGrp="1"/>
          </p:cNvSpPr>
          <p:nvPr>
            <p:ph type="subTitle" idx="1"/>
          </p:nvPr>
        </p:nvSpPr>
        <p:spPr>
          <a:xfrm>
            <a:off x="1371600" y="4412631"/>
            <a:ext cx="6400800" cy="1599330"/>
          </a:xfrm>
        </p:spPr>
        <p:txBody>
          <a:bodyPr>
            <a:normAutofit/>
          </a:bodyPr>
          <a:lstStyle/>
          <a:p>
            <a:pPr algn="ctr"/>
            <a:endParaRPr lang="en-US" b="1" dirty="0">
              <a:latin typeface="Helvetica"/>
              <a:cs typeface="Helvetica"/>
            </a:endParaRPr>
          </a:p>
          <a:p>
            <a:pPr algn="ctr"/>
            <a:endParaRPr lang="en-US" sz="2400" b="1" dirty="0">
              <a:latin typeface="Helvetica"/>
              <a:cs typeface="Helvetica"/>
            </a:endParaRPr>
          </a:p>
        </p:txBody>
      </p:sp>
    </p:spTree>
    <p:extLst>
      <p:ext uri="{BB962C8B-B14F-4D97-AF65-F5344CB8AC3E}">
        <p14:creationId xmlns:p14="http://schemas.microsoft.com/office/powerpoint/2010/main" val="1525543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B0D60-16F1-45A1-9A57-C141A804AC06}"/>
              </a:ext>
            </a:extLst>
          </p:cNvPr>
          <p:cNvSpPr>
            <a:spLocks noGrp="1"/>
          </p:cNvSpPr>
          <p:nvPr>
            <p:ph type="title"/>
          </p:nvPr>
        </p:nvSpPr>
        <p:spPr/>
        <p:txBody>
          <a:bodyPr/>
          <a:lstStyle/>
          <a:p>
            <a:pPr>
              <a:lnSpc>
                <a:spcPct val="150000"/>
              </a:lnSpc>
            </a:pPr>
            <a:r>
              <a:rPr lang="en-US" sz="2400" b="1" dirty="0">
                <a:latin typeface="Times New Roman" panose="02020603050405020304" pitchFamily="18" charset="0"/>
                <a:cs typeface="Times New Roman" panose="02020603050405020304" pitchFamily="18" charset="0"/>
              </a:rPr>
              <a:t>What is a Memorandum?</a:t>
            </a:r>
            <a:endParaRPr lang="en-US" sz="2400" dirty="0"/>
          </a:p>
        </p:txBody>
      </p:sp>
      <p:sp>
        <p:nvSpPr>
          <p:cNvPr id="3" name="Rectangle 2">
            <a:extLst>
              <a:ext uri="{FF2B5EF4-FFF2-40B4-BE49-F238E27FC236}">
                <a16:creationId xmlns:a16="http://schemas.microsoft.com/office/drawing/2014/main" id="{7B9A7780-659B-4D5D-90D9-3E4DF32D045C}"/>
              </a:ext>
            </a:extLst>
          </p:cNvPr>
          <p:cNvSpPr/>
          <p:nvPr/>
        </p:nvSpPr>
        <p:spPr>
          <a:xfrm>
            <a:off x="1004341" y="1417637"/>
            <a:ext cx="7682459" cy="4457952"/>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Generally speaking, the memorandum is a kind of formal communication which usually operates within an organization.</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memorandum can also be said to be a correspondence between employees of a place of work. </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memorandum differs from the formal letter basically in its formal features, its range of circulation, and in its range of formality.</a:t>
            </a:r>
          </a:p>
        </p:txBody>
      </p:sp>
    </p:spTree>
    <p:extLst>
      <p:ext uri="{BB962C8B-B14F-4D97-AF65-F5344CB8AC3E}">
        <p14:creationId xmlns:p14="http://schemas.microsoft.com/office/powerpoint/2010/main" val="150936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8EDD9-C869-4EA1-B513-A53F17D45AEE}"/>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Memorandum Versus Formal Letter</a:t>
            </a:r>
            <a:endParaRPr lang="en-US" sz="4000" dirty="0"/>
          </a:p>
        </p:txBody>
      </p:sp>
      <p:sp>
        <p:nvSpPr>
          <p:cNvPr id="3" name="Rectangle 2">
            <a:extLst>
              <a:ext uri="{FF2B5EF4-FFF2-40B4-BE49-F238E27FC236}">
                <a16:creationId xmlns:a16="http://schemas.microsoft.com/office/drawing/2014/main" id="{41DA9D9F-4F84-4E84-AAA7-0FD149EB825F}"/>
              </a:ext>
            </a:extLst>
          </p:cNvPr>
          <p:cNvSpPr/>
          <p:nvPr/>
        </p:nvSpPr>
        <p:spPr>
          <a:xfrm>
            <a:off x="457200" y="1417638"/>
            <a:ext cx="8229600" cy="465364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Formal letters are basically formal because they exhibit a remarkable degree of distance between people in communication.</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On the other hand, memorandum exhibits a wide range of formality which can be classified into the formal, informal and semi-formal. It suffices to say that such clear distinctions and ranges are not easily associated with the formal letter. </a:t>
            </a:r>
          </a:p>
          <a:p>
            <a:pPr marL="285750" indent="-28575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Memorandums in themselves are considered less formal than formal letters which bridge the distance between communicators who believe that they have been brought much closer together by the common organization they serve.</a:t>
            </a:r>
          </a:p>
        </p:txBody>
      </p:sp>
    </p:spTree>
    <p:extLst>
      <p:ext uri="{BB962C8B-B14F-4D97-AF65-F5344CB8AC3E}">
        <p14:creationId xmlns:p14="http://schemas.microsoft.com/office/powerpoint/2010/main" val="2360105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AA752-7683-40F6-A650-47CC12E84DC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Cont</a:t>
            </a:r>
            <a:r>
              <a:rPr lang="en-US" dirty="0"/>
              <a:t>. </a:t>
            </a:r>
          </a:p>
        </p:txBody>
      </p:sp>
      <p:sp>
        <p:nvSpPr>
          <p:cNvPr id="3" name="Rectangle 2">
            <a:extLst>
              <a:ext uri="{FF2B5EF4-FFF2-40B4-BE49-F238E27FC236}">
                <a16:creationId xmlns:a16="http://schemas.microsoft.com/office/drawing/2014/main" id="{3D5D1FAE-1C9C-40AA-BE82-379CA9AD2D75}"/>
              </a:ext>
            </a:extLst>
          </p:cNvPr>
          <p:cNvSpPr/>
          <p:nvPr/>
        </p:nvSpPr>
        <p:spPr>
          <a:xfrm>
            <a:off x="704538" y="1417638"/>
            <a:ext cx="7749914" cy="373031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At the workplace, therefore, matters which tend to emphasize an individual’s goals, or those which tend to pitch the organization against and individual are communicated through the formal letter, instead of the memorandum.</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is in the sense of this social framework that appointment, promotion, leave, query, resignation and dismissal correspondence are communicated as formal letters and not as memorandum. </a:t>
            </a:r>
          </a:p>
          <a:p>
            <a:pPr marL="342900" indent="-34290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6081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8EDD9-C869-4EA1-B513-A53F17D45AEE}"/>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Types</a:t>
            </a:r>
            <a:endParaRPr lang="en-US" sz="4000" dirty="0"/>
          </a:p>
        </p:txBody>
      </p:sp>
      <p:sp>
        <p:nvSpPr>
          <p:cNvPr id="3" name="Rectangle 2">
            <a:extLst>
              <a:ext uri="{FF2B5EF4-FFF2-40B4-BE49-F238E27FC236}">
                <a16:creationId xmlns:a16="http://schemas.microsoft.com/office/drawing/2014/main" id="{41DA9D9F-4F84-4E84-AAA7-0FD149EB825F}"/>
              </a:ext>
            </a:extLst>
          </p:cNvPr>
          <p:cNvSpPr/>
          <p:nvPr/>
        </p:nvSpPr>
        <p:spPr>
          <a:xfrm>
            <a:off x="555674" y="1417638"/>
            <a:ext cx="8229600" cy="4191981"/>
          </a:xfrm>
          <a:prstGeom prst="rect">
            <a:avLst/>
          </a:prstGeom>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memorandum can be classified into the informal, the semi-formal and the formal. </a:t>
            </a:r>
          </a:p>
          <a:p>
            <a:pPr algn="just">
              <a:lnSpc>
                <a:spcPct val="150000"/>
              </a:lnSpc>
            </a:pPr>
            <a:r>
              <a:rPr lang="en-US" sz="2000" b="1" dirty="0">
                <a:latin typeface="Times New Roman" panose="02020603050405020304" pitchFamily="18" charset="0"/>
                <a:cs typeface="Times New Roman" panose="02020603050405020304" pitchFamily="18" charset="0"/>
              </a:rPr>
              <a:t>The Informal Memoranda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These are hand-written, conversational messages of simple requests, directives or information between employees of an organization. They are usually made up of between one and six lines.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An informal memorandum usually operates between equals or between officers and their subordinates. These memoranda do not usually follow the three-part structure (introduction, body, conclusion). </a:t>
            </a:r>
          </a:p>
        </p:txBody>
      </p:sp>
    </p:spTree>
    <p:extLst>
      <p:ext uri="{BB962C8B-B14F-4D97-AF65-F5344CB8AC3E}">
        <p14:creationId xmlns:p14="http://schemas.microsoft.com/office/powerpoint/2010/main" val="3207677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8EDD9-C869-4EA1-B513-A53F17D45AEE}"/>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Cont.</a:t>
            </a:r>
            <a:endParaRPr lang="en-US" sz="4000" dirty="0"/>
          </a:p>
        </p:txBody>
      </p:sp>
      <p:sp>
        <p:nvSpPr>
          <p:cNvPr id="4" name="Rectangle 3">
            <a:extLst>
              <a:ext uri="{FF2B5EF4-FFF2-40B4-BE49-F238E27FC236}">
                <a16:creationId xmlns:a16="http://schemas.microsoft.com/office/drawing/2014/main" id="{85897D8C-ED54-463E-A08A-768BBEAA3EF4}"/>
              </a:ext>
            </a:extLst>
          </p:cNvPr>
          <p:cNvSpPr/>
          <p:nvPr/>
        </p:nvSpPr>
        <p:spPr>
          <a:xfrm>
            <a:off x="140677" y="1417638"/>
            <a:ext cx="9003323" cy="517064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Officers do not usually keep record of these memoranda because they are considered as one of the many short messages which people give us in our daily lives. The language of the informal memorandum is basically colloquial. </a:t>
            </a:r>
          </a:p>
          <a:p>
            <a:pPr marL="342900" indent="-34290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use of contracted forms, abbreviations, and elliptical constructions are a mark of this colloquial language. Below is an example of an informal memorandum culled from </a:t>
            </a:r>
            <a:r>
              <a:rPr lang="en-US" sz="2000" dirty="0" err="1">
                <a:latin typeface="Times New Roman" panose="02020603050405020304" pitchFamily="18" charset="0"/>
                <a:cs typeface="Times New Roman" panose="02020603050405020304" pitchFamily="18" charset="0"/>
              </a:rPr>
              <a:t>Sekyi</a:t>
            </a:r>
            <a:r>
              <a:rPr lang="en-US" sz="2000" dirty="0">
                <a:latin typeface="Times New Roman" panose="02020603050405020304" pitchFamily="18" charset="0"/>
                <a:cs typeface="Times New Roman" panose="02020603050405020304" pitchFamily="18" charset="0"/>
              </a:rPr>
              <a:t>-Baidoo (2003).  </a:t>
            </a:r>
          </a:p>
          <a:p>
            <a:pPr algn="just">
              <a:lnSpc>
                <a:spcPct val="150000"/>
              </a:lnSpc>
            </a:pPr>
            <a:endParaRPr lang="en-US" sz="20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96036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685800" y="1104220"/>
            <a:ext cx="7772400" cy="604265"/>
          </a:xfrm>
        </p:spPr>
        <p:txBody>
          <a:bodyPr>
            <a:noAutofit/>
          </a:bodyPr>
          <a:lstStyle/>
          <a:p>
            <a:r>
              <a:rPr lang="en-US" sz="3000" b="1" dirty="0">
                <a:latin typeface="Helvetica"/>
                <a:cs typeface="Helvetica"/>
              </a:rPr>
              <a:t>PRINCE DORMENYO 4 POSSA PREZ ‘22</a:t>
            </a:r>
          </a:p>
        </p:txBody>
      </p:sp>
      <p:sp>
        <p:nvSpPr>
          <p:cNvPr id="5" name="Subtitle 2"/>
          <p:cNvSpPr>
            <a:spLocks noGrp="1"/>
          </p:cNvSpPr>
          <p:nvPr>
            <p:ph type="subTitle" idx="1"/>
          </p:nvPr>
        </p:nvSpPr>
        <p:spPr>
          <a:xfrm>
            <a:off x="1371600" y="4412631"/>
            <a:ext cx="6400800" cy="1599330"/>
          </a:xfrm>
        </p:spPr>
        <p:txBody>
          <a:bodyPr>
            <a:normAutofit/>
          </a:bodyPr>
          <a:lstStyle/>
          <a:p>
            <a:pPr algn="ctr"/>
            <a:endParaRPr lang="en-US" b="1" dirty="0">
              <a:latin typeface="Helvetica"/>
              <a:cs typeface="Helvetica"/>
            </a:endParaRPr>
          </a:p>
          <a:p>
            <a:pPr algn="ctr"/>
            <a:endParaRPr lang="en-US" sz="2400" b="1" dirty="0">
              <a:latin typeface="Helvetica"/>
              <a:cs typeface="Helvetica"/>
            </a:endParaRPr>
          </a:p>
        </p:txBody>
      </p:sp>
      <p:pic>
        <p:nvPicPr>
          <p:cNvPr id="3" name="Picture 2">
            <a:extLst>
              <a:ext uri="{FF2B5EF4-FFF2-40B4-BE49-F238E27FC236}">
                <a16:creationId xmlns:a16="http://schemas.microsoft.com/office/drawing/2014/main" id="{FC2BF0FD-DFBB-457E-A306-E35F97CC9FF2}"/>
              </a:ext>
            </a:extLst>
          </p:cNvPr>
          <p:cNvPicPr>
            <a:picLocks noChangeAspect="1"/>
          </p:cNvPicPr>
          <p:nvPr/>
        </p:nvPicPr>
        <p:blipFill>
          <a:blip r:embed="rId2"/>
          <a:stretch>
            <a:fillRect/>
          </a:stretch>
        </p:blipFill>
        <p:spPr>
          <a:xfrm>
            <a:off x="2322925" y="1727276"/>
            <a:ext cx="4498150" cy="5130724"/>
          </a:xfrm>
          <a:prstGeom prst="rect">
            <a:avLst/>
          </a:prstGeom>
        </p:spPr>
      </p:pic>
    </p:spTree>
    <p:extLst>
      <p:ext uri="{BB962C8B-B14F-4D97-AF65-F5344CB8AC3E}">
        <p14:creationId xmlns:p14="http://schemas.microsoft.com/office/powerpoint/2010/main" val="3369373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CBB99-3535-40F3-8A56-5D423BE3F58A}"/>
              </a:ext>
            </a:extLst>
          </p:cNvPr>
          <p:cNvSpPr>
            <a:spLocks noGrp="1"/>
          </p:cNvSpPr>
          <p:nvPr>
            <p:ph type="title"/>
          </p:nvPr>
        </p:nvSpPr>
        <p:spPr>
          <a:xfrm>
            <a:off x="457200" y="274637"/>
            <a:ext cx="8229600" cy="5535319"/>
          </a:xfrm>
        </p:spPr>
        <p:txBody>
          <a:bodyPr/>
          <a:lstStyle/>
          <a:p>
            <a:endParaRPr lang="en-US" dirty="0"/>
          </a:p>
        </p:txBody>
      </p:sp>
      <p:pic>
        <p:nvPicPr>
          <p:cNvPr id="4" name="Picture 3">
            <a:extLst>
              <a:ext uri="{FF2B5EF4-FFF2-40B4-BE49-F238E27FC236}">
                <a16:creationId xmlns:a16="http://schemas.microsoft.com/office/drawing/2014/main" id="{F759CF66-4781-4904-B6F3-389239BAEE32}"/>
              </a:ext>
            </a:extLst>
          </p:cNvPr>
          <p:cNvPicPr>
            <a:picLocks noChangeAspect="1"/>
          </p:cNvPicPr>
          <p:nvPr/>
        </p:nvPicPr>
        <p:blipFill>
          <a:blip r:embed="rId2"/>
          <a:stretch>
            <a:fillRect/>
          </a:stretch>
        </p:blipFill>
        <p:spPr>
          <a:xfrm>
            <a:off x="802319" y="274636"/>
            <a:ext cx="7539361" cy="5380575"/>
          </a:xfrm>
          <a:prstGeom prst="rect">
            <a:avLst/>
          </a:prstGeom>
        </p:spPr>
      </p:pic>
    </p:spTree>
    <p:extLst>
      <p:ext uri="{BB962C8B-B14F-4D97-AF65-F5344CB8AC3E}">
        <p14:creationId xmlns:p14="http://schemas.microsoft.com/office/powerpoint/2010/main" val="41299673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91F71-DEFB-45E4-89D6-E99E69CEE87D}"/>
              </a:ext>
            </a:extLst>
          </p:cNvPr>
          <p:cNvSpPr>
            <a:spLocks noGrp="1"/>
          </p:cNvSpPr>
          <p:nvPr>
            <p:ph type="title"/>
          </p:nvPr>
        </p:nvSpPr>
        <p:spPr>
          <a:xfrm>
            <a:off x="457200" y="274637"/>
            <a:ext cx="8229600" cy="5633794"/>
          </a:xfrm>
        </p:spPr>
        <p:txBody>
          <a:bodyPr/>
          <a:lstStyle/>
          <a:p>
            <a:pPr algn="l"/>
            <a:r>
              <a:rPr lang="en-US" sz="2000" b="1" dirty="0">
                <a:latin typeface="Times New Roman" panose="02020603050405020304" pitchFamily="18" charset="0"/>
                <a:cs typeface="Times New Roman" panose="02020603050405020304" pitchFamily="18" charset="0"/>
              </a:rPr>
              <a:t>The Semi-formal Memorandum</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semi-formal memorandum is a communication between equals, between an administrator and his subordinate or between a subordinate and an immediate boss between whom there is not much difference in status or rank.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semi-formal memorandum, like the informal one, is also concerned with day-to-day activities of the organization. It contains a well discussed or fully presented subject. It does not contain snippets of directives or information. Unlike the informal ones, the semi-formal ones are filed. These memoranda usually follow the three-part structure (introduction, body, conclusion).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language of this form of memorandum is simple, everyday vocabulary construction except in instances when the nature of the subject demands specialized vocabulary. Even when this happens, it is believed that the workers understand it. Below is an example of a semi-formal memorandum culled from </a:t>
            </a:r>
            <a:r>
              <a:rPr lang="en-US" sz="2000" dirty="0" err="1">
                <a:latin typeface="Times New Roman" panose="02020603050405020304" pitchFamily="18" charset="0"/>
                <a:cs typeface="Times New Roman" panose="02020603050405020304" pitchFamily="18" charset="0"/>
              </a:rPr>
              <a:t>Sekyi</a:t>
            </a:r>
            <a:r>
              <a:rPr lang="en-US" sz="2000" dirty="0">
                <a:latin typeface="Times New Roman" panose="02020603050405020304" pitchFamily="18" charset="0"/>
                <a:cs typeface="Times New Roman" panose="02020603050405020304" pitchFamily="18" charset="0"/>
              </a:rPr>
              <a:t>-Baidoo (2003).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6258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37A2B-68F7-4584-8044-BD73B7A95867}"/>
              </a:ext>
            </a:extLst>
          </p:cNvPr>
          <p:cNvSpPr>
            <a:spLocks noGrp="1"/>
          </p:cNvSpPr>
          <p:nvPr>
            <p:ph type="title"/>
          </p:nvPr>
        </p:nvSpPr>
        <p:spPr>
          <a:xfrm>
            <a:off x="457200" y="274638"/>
            <a:ext cx="8229600" cy="5507184"/>
          </a:xfrm>
        </p:spPr>
        <p:txBody>
          <a:bodyPr/>
          <a:lstStyle/>
          <a:p>
            <a:endParaRPr lang="en-US" dirty="0"/>
          </a:p>
        </p:txBody>
      </p:sp>
      <p:pic>
        <p:nvPicPr>
          <p:cNvPr id="6" name="Picture 5">
            <a:extLst>
              <a:ext uri="{FF2B5EF4-FFF2-40B4-BE49-F238E27FC236}">
                <a16:creationId xmlns:a16="http://schemas.microsoft.com/office/drawing/2014/main" id="{EBA0EB9D-E676-4A15-B755-1DEE2DF6D66E}"/>
              </a:ext>
            </a:extLst>
          </p:cNvPr>
          <p:cNvPicPr>
            <a:picLocks noChangeAspect="1"/>
          </p:cNvPicPr>
          <p:nvPr/>
        </p:nvPicPr>
        <p:blipFill>
          <a:blip r:embed="rId2"/>
          <a:stretch>
            <a:fillRect/>
          </a:stretch>
        </p:blipFill>
        <p:spPr>
          <a:xfrm>
            <a:off x="798377" y="274638"/>
            <a:ext cx="7547246" cy="5507184"/>
          </a:xfrm>
          <a:prstGeom prst="rect">
            <a:avLst/>
          </a:prstGeom>
        </p:spPr>
      </p:pic>
    </p:spTree>
    <p:extLst>
      <p:ext uri="{BB962C8B-B14F-4D97-AF65-F5344CB8AC3E}">
        <p14:creationId xmlns:p14="http://schemas.microsoft.com/office/powerpoint/2010/main" val="1161870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8EDD9-C869-4EA1-B513-A53F17D45AEE}"/>
              </a:ext>
            </a:extLst>
          </p:cNvPr>
          <p:cNvSpPr>
            <a:spLocks noGrp="1"/>
          </p:cNvSpPr>
          <p:nvPr>
            <p:ph type="title"/>
          </p:nvPr>
        </p:nvSpPr>
        <p:spPr>
          <a:xfrm>
            <a:off x="457200" y="274638"/>
            <a:ext cx="8229600" cy="513153"/>
          </a:xfrm>
        </p:spPr>
        <p:txBody>
          <a:bodyPr/>
          <a:lstStyle/>
          <a:p>
            <a:pPr algn="l"/>
            <a:r>
              <a:rPr lang="en-US" sz="2000" b="1" dirty="0">
                <a:latin typeface="Times New Roman" panose="02020603050405020304" pitchFamily="18" charset="0"/>
                <a:cs typeface="Times New Roman" panose="02020603050405020304" pitchFamily="18" charset="0"/>
              </a:rPr>
              <a:t>The Formal or Policy Memorandum</a:t>
            </a:r>
          </a:p>
        </p:txBody>
      </p:sp>
      <p:sp>
        <p:nvSpPr>
          <p:cNvPr id="4" name="Rectangle 3">
            <a:extLst>
              <a:ext uri="{FF2B5EF4-FFF2-40B4-BE49-F238E27FC236}">
                <a16:creationId xmlns:a16="http://schemas.microsoft.com/office/drawing/2014/main" id="{85897D8C-ED54-463E-A08A-768BBEAA3EF4}"/>
              </a:ext>
            </a:extLst>
          </p:cNvPr>
          <p:cNvSpPr/>
          <p:nvPr/>
        </p:nvSpPr>
        <p:spPr>
          <a:xfrm>
            <a:off x="70338" y="843677"/>
            <a:ext cx="9003323" cy="7478970"/>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formal or policy memorandum can be likened to the formal letter in the distance that exists between the employees in communication. It is concerned not with day-to-day information and activities but with general policies and directives. It is usually an announcement, explanation, suggestion, or reaction based on the principles and practices on which the organization operates. It is as a result of its preoccupation with organizational principles and practices that it is called policy memorandum. </a:t>
            </a:r>
          </a:p>
          <a:p>
            <a:pPr marL="342900" indent="-34290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Policy memorandums are usually addressed to communal recipients such as </a:t>
            </a:r>
            <a:r>
              <a:rPr lang="en-US" sz="2000" i="1" dirty="0">
                <a:latin typeface="Times New Roman" panose="02020603050405020304" pitchFamily="18" charset="0"/>
                <a:cs typeface="Times New Roman" panose="02020603050405020304" pitchFamily="18" charset="0"/>
              </a:rPr>
              <a:t>All Employees, All Managers, All Heads of Departments </a:t>
            </a:r>
            <a:r>
              <a:rPr lang="en-US" sz="2000" dirty="0">
                <a:latin typeface="Times New Roman" panose="02020603050405020304" pitchFamily="18" charset="0"/>
                <a:cs typeface="Times New Roman" panose="02020603050405020304" pitchFamily="18" charset="0"/>
              </a:rPr>
              <a:t>or individuals with official designation such as </a:t>
            </a:r>
            <a:r>
              <a:rPr lang="en-US" sz="2000" i="1" dirty="0">
                <a:latin typeface="Times New Roman" panose="02020603050405020304" pitchFamily="18" charset="0"/>
                <a:cs typeface="Times New Roman" panose="02020603050405020304" pitchFamily="18" charset="0"/>
              </a:rPr>
              <a:t>The Head, The Secretary, The Minister </a:t>
            </a:r>
            <a:r>
              <a:rPr lang="en-US" sz="2000" dirty="0">
                <a:latin typeface="Times New Roman" panose="02020603050405020304" pitchFamily="18" charset="0"/>
                <a:cs typeface="Times New Roman" panose="02020603050405020304" pitchFamily="18" charset="0"/>
              </a:rPr>
              <a:t>etc. </a:t>
            </a:r>
          </a:p>
          <a:p>
            <a:pPr marL="342900" indent="-342900"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111358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8EDD9-C869-4EA1-B513-A53F17D45AEE}"/>
              </a:ext>
            </a:extLst>
          </p:cNvPr>
          <p:cNvSpPr>
            <a:spLocks noGrp="1"/>
          </p:cNvSpPr>
          <p:nvPr>
            <p:ph type="title"/>
          </p:nvPr>
        </p:nvSpPr>
        <p:spPr>
          <a:xfrm>
            <a:off x="457200" y="274638"/>
            <a:ext cx="8229600" cy="513153"/>
          </a:xfrm>
        </p:spPr>
        <p:txBody>
          <a:bodyPr/>
          <a:lstStyle/>
          <a:p>
            <a:r>
              <a:rPr lang="en-US" sz="4000" b="1" dirty="0">
                <a:latin typeface="Times New Roman" panose="02020603050405020304" pitchFamily="18" charset="0"/>
                <a:cs typeface="Times New Roman" panose="02020603050405020304" pitchFamily="18" charset="0"/>
              </a:rPr>
              <a:t>Cont. </a:t>
            </a:r>
          </a:p>
        </p:txBody>
      </p:sp>
      <p:sp>
        <p:nvSpPr>
          <p:cNvPr id="4" name="Rectangle 3">
            <a:extLst>
              <a:ext uri="{FF2B5EF4-FFF2-40B4-BE49-F238E27FC236}">
                <a16:creationId xmlns:a16="http://schemas.microsoft.com/office/drawing/2014/main" id="{85897D8C-ED54-463E-A08A-768BBEAA3EF4}"/>
              </a:ext>
            </a:extLst>
          </p:cNvPr>
          <p:cNvSpPr/>
          <p:nvPr/>
        </p:nvSpPr>
        <p:spPr>
          <a:xfrm>
            <a:off x="70338" y="843677"/>
            <a:ext cx="9003323" cy="609397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These memorandums follow the three-part structure (introduction, body, conclusion).</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language of formal memorandum is formal and therefore uses the impersonal method generally. The use of passives and genitives(instead of specific names) reflect its impersonal nature. It is important to avoid the use of colloquial language in formal memos. The use of contracted forms, abbreviations, and elliptical constructions are a mark of this colloquial language. Below is an example of a formal memorandum culled from </a:t>
            </a:r>
            <a:r>
              <a:rPr lang="en-US" sz="2000" dirty="0" err="1">
                <a:latin typeface="Times New Roman" panose="02020603050405020304" pitchFamily="18" charset="0"/>
                <a:cs typeface="Times New Roman" panose="02020603050405020304" pitchFamily="18" charset="0"/>
              </a:rPr>
              <a:t>Sekyi</a:t>
            </a:r>
            <a:r>
              <a:rPr lang="en-US" sz="2000" dirty="0">
                <a:latin typeface="Times New Roman" panose="02020603050405020304" pitchFamily="18" charset="0"/>
                <a:cs typeface="Times New Roman" panose="02020603050405020304" pitchFamily="18" charset="0"/>
              </a:rPr>
              <a:t>-Baidoo (2003).  </a:t>
            </a:r>
          </a:p>
          <a:p>
            <a:pPr algn="just">
              <a:lnSpc>
                <a:spcPct val="150000"/>
              </a:lnSpc>
            </a:pPr>
            <a:endParaRPr lang="en-US" sz="20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28640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50588-8984-4772-A9B3-6DAFF241AB91}"/>
              </a:ext>
            </a:extLst>
          </p:cNvPr>
          <p:cNvSpPr>
            <a:spLocks noGrp="1"/>
          </p:cNvSpPr>
          <p:nvPr>
            <p:ph type="title"/>
          </p:nvPr>
        </p:nvSpPr>
        <p:spPr>
          <a:xfrm>
            <a:off x="457200" y="274638"/>
            <a:ext cx="8229600" cy="5577522"/>
          </a:xfrm>
        </p:spPr>
        <p:txBody>
          <a:bodyPr/>
          <a:lstStyle/>
          <a:p>
            <a:endParaRPr lang="en-US" dirty="0"/>
          </a:p>
        </p:txBody>
      </p:sp>
      <p:pic>
        <p:nvPicPr>
          <p:cNvPr id="4" name="Picture 3">
            <a:extLst>
              <a:ext uri="{FF2B5EF4-FFF2-40B4-BE49-F238E27FC236}">
                <a16:creationId xmlns:a16="http://schemas.microsoft.com/office/drawing/2014/main" id="{BD9BCD51-3B2F-41E0-8661-D441AA5F02D8}"/>
              </a:ext>
            </a:extLst>
          </p:cNvPr>
          <p:cNvPicPr>
            <a:picLocks noChangeAspect="1"/>
          </p:cNvPicPr>
          <p:nvPr/>
        </p:nvPicPr>
        <p:blipFill>
          <a:blip r:embed="rId2"/>
          <a:stretch>
            <a:fillRect/>
          </a:stretch>
        </p:blipFill>
        <p:spPr>
          <a:xfrm>
            <a:off x="1786597" y="274638"/>
            <a:ext cx="5584874" cy="5408710"/>
          </a:xfrm>
          <a:prstGeom prst="rect">
            <a:avLst/>
          </a:prstGeom>
        </p:spPr>
      </p:pic>
    </p:spTree>
    <p:extLst>
      <p:ext uri="{BB962C8B-B14F-4D97-AF65-F5344CB8AC3E}">
        <p14:creationId xmlns:p14="http://schemas.microsoft.com/office/powerpoint/2010/main" val="722761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49291-1572-4899-A27F-63B97B23BE6B}"/>
              </a:ext>
            </a:extLst>
          </p:cNvPr>
          <p:cNvSpPr>
            <a:spLocks noGrp="1"/>
          </p:cNvSpPr>
          <p:nvPr>
            <p:ph type="title"/>
          </p:nvPr>
        </p:nvSpPr>
        <p:spPr>
          <a:xfrm>
            <a:off x="457200" y="274637"/>
            <a:ext cx="8229600" cy="5422777"/>
          </a:xfrm>
        </p:spPr>
        <p:txBody>
          <a:bodyPr/>
          <a:lstStyle/>
          <a:p>
            <a:endParaRPr lang="en-US" dirty="0"/>
          </a:p>
        </p:txBody>
      </p:sp>
      <p:pic>
        <p:nvPicPr>
          <p:cNvPr id="4" name="Picture 3">
            <a:extLst>
              <a:ext uri="{FF2B5EF4-FFF2-40B4-BE49-F238E27FC236}">
                <a16:creationId xmlns:a16="http://schemas.microsoft.com/office/drawing/2014/main" id="{03118118-F4D0-4BCF-B3D6-8336469F7DE5}"/>
              </a:ext>
            </a:extLst>
          </p:cNvPr>
          <p:cNvPicPr>
            <a:picLocks noChangeAspect="1"/>
          </p:cNvPicPr>
          <p:nvPr/>
        </p:nvPicPr>
        <p:blipFill>
          <a:blip r:embed="rId2"/>
          <a:stretch>
            <a:fillRect/>
          </a:stretch>
        </p:blipFill>
        <p:spPr>
          <a:xfrm>
            <a:off x="1828801" y="274636"/>
            <a:ext cx="5584874" cy="5422777"/>
          </a:xfrm>
          <a:prstGeom prst="rect">
            <a:avLst/>
          </a:prstGeom>
        </p:spPr>
      </p:pic>
    </p:spTree>
    <p:extLst>
      <p:ext uri="{BB962C8B-B14F-4D97-AF65-F5344CB8AC3E}">
        <p14:creationId xmlns:p14="http://schemas.microsoft.com/office/powerpoint/2010/main" val="430071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8EDD9-C869-4EA1-B513-A53F17D45AEE}"/>
              </a:ext>
            </a:extLst>
          </p:cNvPr>
          <p:cNvSpPr>
            <a:spLocks noGrp="1"/>
          </p:cNvSpPr>
          <p:nvPr>
            <p:ph type="title"/>
          </p:nvPr>
        </p:nvSpPr>
        <p:spPr>
          <a:xfrm>
            <a:off x="457200" y="274638"/>
            <a:ext cx="8229600" cy="513153"/>
          </a:xfrm>
        </p:spPr>
        <p:txBody>
          <a:bodyPr/>
          <a:lstStyle/>
          <a:p>
            <a:r>
              <a:rPr lang="en-US" sz="4000" b="1" dirty="0">
                <a:latin typeface="Times New Roman" panose="02020603050405020304" pitchFamily="18" charset="0"/>
                <a:cs typeface="Times New Roman" panose="02020603050405020304" pitchFamily="18" charset="0"/>
              </a:rPr>
              <a:t>Structure of a Memorandum</a:t>
            </a:r>
          </a:p>
        </p:txBody>
      </p:sp>
      <p:sp>
        <p:nvSpPr>
          <p:cNvPr id="4" name="Rectangle 3">
            <a:extLst>
              <a:ext uri="{FF2B5EF4-FFF2-40B4-BE49-F238E27FC236}">
                <a16:creationId xmlns:a16="http://schemas.microsoft.com/office/drawing/2014/main" id="{85897D8C-ED54-463E-A08A-768BBEAA3EF4}"/>
              </a:ext>
            </a:extLst>
          </p:cNvPr>
          <p:cNvSpPr/>
          <p:nvPr/>
        </p:nvSpPr>
        <p:spPr>
          <a:xfrm>
            <a:off x="70338" y="843677"/>
            <a:ext cx="9003323" cy="5970865"/>
          </a:xfrm>
          <a:prstGeom prst="rect">
            <a:avLst/>
          </a:prstGeom>
        </p:spPr>
        <p:txBody>
          <a:bodyPr wrap="square">
            <a:spAutoFit/>
          </a:bodyPr>
          <a:lstStyle/>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Departments often design their “memo pads” with the following features: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1. Corresponding heading: This is the heading which appears at the top usually in bold print and seeks to identify the nature of the correspondence.</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 most organizations this heading, comprises the word </a:t>
            </a:r>
            <a:r>
              <a:rPr lang="en-US" sz="2000" b="1" dirty="0">
                <a:latin typeface="Times New Roman" panose="02020603050405020304" pitchFamily="18" charset="0"/>
                <a:cs typeface="Times New Roman" panose="02020603050405020304" pitchFamily="18" charset="0"/>
              </a:rPr>
              <a:t>Memorandum</a:t>
            </a:r>
            <a:r>
              <a:rPr lang="en-US" sz="2000" dirty="0">
                <a:latin typeface="Times New Roman" panose="02020603050405020304" pitchFamily="18" charset="0"/>
                <a:cs typeface="Times New Roman" panose="02020603050405020304" pitchFamily="18" charset="0"/>
              </a:rPr>
              <a:t> or </a:t>
            </a:r>
            <a:r>
              <a:rPr lang="en-US" sz="2000" b="1" dirty="0">
                <a:latin typeface="Times New Roman" panose="02020603050405020304" pitchFamily="18" charset="0"/>
                <a:cs typeface="Times New Roman" panose="02020603050405020304" pitchFamily="18" charset="0"/>
              </a:rPr>
              <a:t>Memo</a:t>
            </a:r>
            <a:r>
              <a:rPr lang="en-US" sz="2000" dirty="0">
                <a:latin typeface="Times New Roman" panose="02020603050405020304" pitchFamily="18" charset="0"/>
                <a:cs typeface="Times New Roman" panose="02020603050405020304" pitchFamily="18" charset="0"/>
              </a:rPr>
              <a:t>.</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Others such as </a:t>
            </a:r>
            <a:r>
              <a:rPr lang="en-US" sz="2000" b="1" dirty="0">
                <a:latin typeface="Times New Roman" panose="02020603050405020304" pitchFamily="18" charset="0"/>
                <a:cs typeface="Times New Roman" panose="02020603050405020304" pitchFamily="18" charset="0"/>
              </a:rPr>
              <a:t>Office</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Memo</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Interoffice</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Correspondence</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Interoffice</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Communication</a:t>
            </a:r>
            <a:r>
              <a:rPr lang="en-US" sz="2000" dirty="0">
                <a:latin typeface="Times New Roman" panose="02020603050405020304" pitchFamily="18" charset="0"/>
                <a:cs typeface="Times New Roman" panose="02020603050405020304" pitchFamily="18" charset="0"/>
              </a:rPr>
              <a:t> are sometimes used in place of memorandum. </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Some organizations do not even have this correspondence heading on their memo pads.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98803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3FE45-27BF-42D7-94FE-0CBFCE85CAF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Cont.</a:t>
            </a:r>
            <a:endParaRPr lang="en-US" dirty="0"/>
          </a:p>
        </p:txBody>
      </p:sp>
      <p:sp>
        <p:nvSpPr>
          <p:cNvPr id="3" name="Rectangle 2">
            <a:extLst>
              <a:ext uri="{FF2B5EF4-FFF2-40B4-BE49-F238E27FC236}">
                <a16:creationId xmlns:a16="http://schemas.microsoft.com/office/drawing/2014/main" id="{C4EF8650-634B-4B16-8D2C-97744EEEBA75}"/>
              </a:ext>
            </a:extLst>
          </p:cNvPr>
          <p:cNvSpPr/>
          <p:nvPr/>
        </p:nvSpPr>
        <p:spPr>
          <a:xfrm>
            <a:off x="689548" y="923025"/>
            <a:ext cx="7764904" cy="5011949"/>
          </a:xfrm>
          <a:prstGeom prst="rect">
            <a:avLst/>
          </a:prstGeom>
        </p:spPr>
        <p:txBody>
          <a:bodyPr wrap="square">
            <a:spAutoFit/>
          </a:bodyPr>
          <a:lstStyle/>
          <a:p>
            <a:pPr algn="just">
              <a:lnSpc>
                <a:spcPct val="150000"/>
              </a:lnSpc>
            </a:pPr>
            <a:r>
              <a:rPr lang="en-US" sz="2400" dirty="0">
                <a:latin typeface="Times New Roman" panose="02020603050405020304" pitchFamily="18" charset="0"/>
                <a:cs typeface="Times New Roman" panose="02020603050405020304" pitchFamily="18" charset="0"/>
              </a:rPr>
              <a:t>2. Specific headings: These headings come below the correspondence heading.</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They serve to identify the people and the subject or focus of the communication.</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is important in every communication that the people in the communication event are all identified.</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the formal letter, these people are identified in the recipient’s address and salutation on one hand, and the writers address and the subscription on the other.</a:t>
            </a:r>
          </a:p>
        </p:txBody>
      </p:sp>
    </p:spTree>
    <p:extLst>
      <p:ext uri="{BB962C8B-B14F-4D97-AF65-F5344CB8AC3E}">
        <p14:creationId xmlns:p14="http://schemas.microsoft.com/office/powerpoint/2010/main" val="2452212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98271-367E-49C6-808D-15CE3FA2D03F}"/>
              </a:ext>
            </a:extLst>
          </p:cNvPr>
          <p:cNvSpPr>
            <a:spLocks noGrp="1"/>
          </p:cNvSpPr>
          <p:nvPr>
            <p:ph type="title"/>
          </p:nvPr>
        </p:nvSpPr>
        <p:spPr>
          <a:xfrm>
            <a:off x="457200" y="0"/>
            <a:ext cx="8229600" cy="647114"/>
          </a:xfrm>
        </p:spPr>
        <p:txBody>
          <a:bodyPr/>
          <a:lstStyle/>
          <a:p>
            <a:r>
              <a:rPr lang="en-US" b="1" dirty="0">
                <a:latin typeface="Times New Roman" panose="02020603050405020304" pitchFamily="18" charset="0"/>
                <a:cs typeface="Times New Roman" panose="02020603050405020304" pitchFamily="18" charset="0"/>
              </a:rPr>
              <a:t>Cont. </a:t>
            </a:r>
            <a:endParaRPr lang="en-US" dirty="0"/>
          </a:p>
        </p:txBody>
      </p:sp>
      <p:sp>
        <p:nvSpPr>
          <p:cNvPr id="3" name="Rectangle 2">
            <a:extLst>
              <a:ext uri="{FF2B5EF4-FFF2-40B4-BE49-F238E27FC236}">
                <a16:creationId xmlns:a16="http://schemas.microsoft.com/office/drawing/2014/main" id="{E03EE48F-7766-4398-8EC7-44CE0F8DB802}"/>
              </a:ext>
            </a:extLst>
          </p:cNvPr>
          <p:cNvSpPr/>
          <p:nvPr/>
        </p:nvSpPr>
        <p:spPr>
          <a:xfrm>
            <a:off x="457199" y="647114"/>
            <a:ext cx="8349175" cy="5484643"/>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specific headings comprise the following elements which can be arranged not necessarily in the order below:</a:t>
            </a:r>
          </a:p>
          <a:p>
            <a:pPr algn="just">
              <a:lnSpc>
                <a:spcPct val="150000"/>
              </a:lnSpc>
            </a:pPr>
            <a:r>
              <a:rPr lang="en-US" sz="2400" b="1" dirty="0">
                <a:latin typeface="Times New Roman" panose="02020603050405020304" pitchFamily="18" charset="0"/>
                <a:cs typeface="Times New Roman" panose="02020603050405020304" pitchFamily="18" charset="0"/>
              </a:rPr>
              <a:t>   From:</a:t>
            </a:r>
          </a:p>
          <a:p>
            <a:pPr algn="just">
              <a:lnSpc>
                <a:spcPct val="150000"/>
              </a:lnSpc>
            </a:pPr>
            <a:r>
              <a:rPr lang="en-US" sz="2400" b="1" dirty="0">
                <a:latin typeface="Times New Roman" panose="02020603050405020304" pitchFamily="18" charset="0"/>
                <a:cs typeface="Times New Roman" panose="02020603050405020304" pitchFamily="18" charset="0"/>
              </a:rPr>
              <a:t>   To</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b="1" dirty="0">
                <a:latin typeface="Times New Roman" panose="02020603050405020304" pitchFamily="18" charset="0"/>
                <a:cs typeface="Times New Roman" panose="02020603050405020304" pitchFamily="18" charset="0"/>
              </a:rPr>
              <a:t>   Date</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400" b="1" dirty="0">
                <a:latin typeface="Times New Roman" panose="02020603050405020304" pitchFamily="18" charset="0"/>
                <a:cs typeface="Times New Roman" panose="02020603050405020304" pitchFamily="18" charset="0"/>
              </a:rPr>
              <a:t>   Subject</a:t>
            </a:r>
            <a:r>
              <a:rPr lang="en-US" sz="2400"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Informal and sometimes semi-formal memorandums generally have no subscription. The writer may only write a ‘Thank you’ or initial his/her name at the end of the correspondence. It is now however customary for formal and some semi-formal memorandums to display the signature, the name and the designation of the writer.   </a:t>
            </a:r>
          </a:p>
        </p:txBody>
      </p:sp>
    </p:spTree>
    <p:extLst>
      <p:ext uri="{BB962C8B-B14F-4D97-AF65-F5344CB8AC3E}">
        <p14:creationId xmlns:p14="http://schemas.microsoft.com/office/powerpoint/2010/main" val="3051076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98271-367E-49C6-808D-15CE3FA2D03F}"/>
              </a:ext>
            </a:extLst>
          </p:cNvPr>
          <p:cNvSpPr>
            <a:spLocks noGrp="1"/>
          </p:cNvSpPr>
          <p:nvPr>
            <p:ph type="title"/>
          </p:nvPr>
        </p:nvSpPr>
        <p:spPr>
          <a:xfrm>
            <a:off x="457200" y="0"/>
            <a:ext cx="8229600" cy="647114"/>
          </a:xfrm>
        </p:spPr>
        <p:txBody>
          <a:bodyPr/>
          <a:lstStyle/>
          <a:p>
            <a:r>
              <a:rPr lang="en-US" b="1" dirty="0">
                <a:latin typeface="Times New Roman" panose="02020603050405020304" pitchFamily="18" charset="0"/>
                <a:cs typeface="Times New Roman" panose="02020603050405020304" pitchFamily="18" charset="0"/>
              </a:rPr>
              <a:t>Uses of a Memorandum</a:t>
            </a:r>
            <a:endParaRPr lang="en-US" dirty="0"/>
          </a:p>
        </p:txBody>
      </p:sp>
      <p:sp>
        <p:nvSpPr>
          <p:cNvPr id="3" name="Rectangle 2">
            <a:extLst>
              <a:ext uri="{FF2B5EF4-FFF2-40B4-BE49-F238E27FC236}">
                <a16:creationId xmlns:a16="http://schemas.microsoft.com/office/drawing/2014/main" id="{E03EE48F-7766-4398-8EC7-44CE0F8DB802}"/>
              </a:ext>
            </a:extLst>
          </p:cNvPr>
          <p:cNvSpPr/>
          <p:nvPr/>
        </p:nvSpPr>
        <p:spPr>
          <a:xfrm>
            <a:off x="457199" y="647114"/>
            <a:ext cx="8349175" cy="373031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Memorandums are used within an organization to:</a:t>
            </a:r>
          </a:p>
          <a:p>
            <a:pPr marL="457200" indent="-457200" algn="just">
              <a:lnSpc>
                <a:spcPct val="150000"/>
              </a:lnSpc>
              <a:buAutoNum type="arabicPeriod"/>
            </a:pPr>
            <a:r>
              <a:rPr lang="en-US" sz="2000" dirty="0">
                <a:latin typeface="Times New Roman" panose="02020603050405020304" pitchFamily="18" charset="0"/>
                <a:cs typeface="Times New Roman" panose="02020603050405020304" pitchFamily="18" charset="0"/>
              </a:rPr>
              <a:t>Report information</a:t>
            </a:r>
          </a:p>
          <a:p>
            <a:pPr marL="457200" indent="-457200" algn="just">
              <a:lnSpc>
                <a:spcPct val="150000"/>
              </a:lnSpc>
              <a:buAutoNum type="arabicPeriod"/>
            </a:pPr>
            <a:r>
              <a:rPr lang="en-US" sz="2000" dirty="0">
                <a:latin typeface="Times New Roman" panose="02020603050405020304" pitchFamily="18" charset="0"/>
                <a:cs typeface="Times New Roman" panose="02020603050405020304" pitchFamily="18" charset="0"/>
              </a:rPr>
              <a:t>Make requests</a:t>
            </a:r>
          </a:p>
          <a:p>
            <a:pPr marL="457200" indent="-457200" algn="just">
              <a:lnSpc>
                <a:spcPct val="150000"/>
              </a:lnSpc>
              <a:buAutoNum type="arabicPeriod"/>
            </a:pPr>
            <a:r>
              <a:rPr lang="en-US" sz="2000" dirty="0">
                <a:latin typeface="Times New Roman" panose="02020603050405020304" pitchFamily="18" charset="0"/>
                <a:cs typeface="Times New Roman" panose="02020603050405020304" pitchFamily="18" charset="0"/>
              </a:rPr>
              <a:t>Recommend an action</a:t>
            </a:r>
          </a:p>
          <a:p>
            <a:pPr marL="457200" indent="-457200" algn="just">
              <a:lnSpc>
                <a:spcPct val="150000"/>
              </a:lnSpc>
              <a:buAutoNum type="arabicPeriod"/>
            </a:pPr>
            <a:r>
              <a:rPr lang="en-US" sz="2000" dirty="0">
                <a:latin typeface="Times New Roman" panose="02020603050405020304" pitchFamily="18" charset="0"/>
                <a:cs typeface="Times New Roman" panose="02020603050405020304" pitchFamily="18" charset="0"/>
              </a:rPr>
              <a:t>Communicate issues of immediate importance</a:t>
            </a:r>
          </a:p>
          <a:p>
            <a:pPr marL="457200" indent="-457200" algn="just">
              <a:lnSpc>
                <a:spcPct val="150000"/>
              </a:lnSpc>
              <a:buAutoNum type="arabicPeriod"/>
            </a:pP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Organization can also send memos to people or firms that have close or long-standing relationships with them.   </a:t>
            </a:r>
          </a:p>
        </p:txBody>
      </p:sp>
    </p:spTree>
    <p:extLst>
      <p:ext uri="{BB962C8B-B14F-4D97-AF65-F5344CB8AC3E}">
        <p14:creationId xmlns:p14="http://schemas.microsoft.com/office/powerpoint/2010/main" val="1197724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98271-367E-49C6-808D-15CE3FA2D03F}"/>
              </a:ext>
            </a:extLst>
          </p:cNvPr>
          <p:cNvSpPr>
            <a:spLocks noGrp="1"/>
          </p:cNvSpPr>
          <p:nvPr>
            <p:ph type="title"/>
          </p:nvPr>
        </p:nvSpPr>
        <p:spPr>
          <a:xfrm>
            <a:off x="457200" y="0"/>
            <a:ext cx="8229600" cy="647114"/>
          </a:xfrm>
        </p:spPr>
        <p:txBody>
          <a:bodyPr/>
          <a:lstStyle/>
          <a:p>
            <a:r>
              <a:rPr lang="en-US" b="1" dirty="0">
                <a:latin typeface="Times New Roman" panose="02020603050405020304" pitchFamily="18" charset="0"/>
                <a:cs typeface="Times New Roman" panose="02020603050405020304" pitchFamily="18" charset="0"/>
              </a:rPr>
              <a:t>Types of Modern Communication</a:t>
            </a:r>
            <a:endParaRPr lang="en-US" dirty="0"/>
          </a:p>
        </p:txBody>
      </p:sp>
      <p:sp>
        <p:nvSpPr>
          <p:cNvPr id="3" name="Rectangle 2">
            <a:extLst>
              <a:ext uri="{FF2B5EF4-FFF2-40B4-BE49-F238E27FC236}">
                <a16:creationId xmlns:a16="http://schemas.microsoft.com/office/drawing/2014/main" id="{E03EE48F-7766-4398-8EC7-44CE0F8DB802}"/>
              </a:ext>
            </a:extLst>
          </p:cNvPr>
          <p:cNvSpPr/>
          <p:nvPr/>
        </p:nvSpPr>
        <p:spPr>
          <a:xfrm>
            <a:off x="397412" y="1055077"/>
            <a:ext cx="8349175" cy="2806987"/>
          </a:xfrm>
          <a:prstGeom prst="rect">
            <a:avLst/>
          </a:prstGeom>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Other types of modern communication have been around since the early days of phone and internet. Some of these include:</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Voice Calling</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SMS Text Messaging</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Email</a:t>
            </a:r>
          </a:p>
          <a:p>
            <a:pPr marL="342900" indent="-342900" algn="just">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Social Media  </a:t>
            </a:r>
          </a:p>
        </p:txBody>
      </p:sp>
    </p:spTree>
    <p:extLst>
      <p:ext uri="{BB962C8B-B14F-4D97-AF65-F5344CB8AC3E}">
        <p14:creationId xmlns:p14="http://schemas.microsoft.com/office/powerpoint/2010/main" val="3159228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98271-367E-49C6-808D-15CE3FA2D03F}"/>
              </a:ext>
            </a:extLst>
          </p:cNvPr>
          <p:cNvSpPr>
            <a:spLocks noGrp="1"/>
          </p:cNvSpPr>
          <p:nvPr>
            <p:ph type="title"/>
          </p:nvPr>
        </p:nvSpPr>
        <p:spPr>
          <a:xfrm>
            <a:off x="457200" y="0"/>
            <a:ext cx="8229600" cy="647114"/>
          </a:xfrm>
        </p:spPr>
        <p:txBody>
          <a:bodyPr/>
          <a:lstStyle/>
          <a:p>
            <a:r>
              <a:rPr lang="en-US" dirty="0"/>
              <a:t>Assignment</a:t>
            </a:r>
          </a:p>
        </p:txBody>
      </p:sp>
      <p:sp>
        <p:nvSpPr>
          <p:cNvPr id="3" name="Rectangle 2">
            <a:extLst>
              <a:ext uri="{FF2B5EF4-FFF2-40B4-BE49-F238E27FC236}">
                <a16:creationId xmlns:a16="http://schemas.microsoft.com/office/drawing/2014/main" id="{E03EE48F-7766-4398-8EC7-44CE0F8DB802}"/>
              </a:ext>
            </a:extLst>
          </p:cNvPr>
          <p:cNvSpPr/>
          <p:nvPr/>
        </p:nvSpPr>
        <p:spPr>
          <a:xfrm>
            <a:off x="397412" y="1055077"/>
            <a:ext cx="8349175" cy="498663"/>
          </a:xfrm>
          <a:prstGeom prst="rect">
            <a:avLst/>
          </a:prstGeom>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Explore other types of modern communication used in organizations. </a:t>
            </a:r>
          </a:p>
        </p:txBody>
      </p:sp>
    </p:spTree>
    <p:extLst>
      <p:ext uri="{BB962C8B-B14F-4D97-AF65-F5344CB8AC3E}">
        <p14:creationId xmlns:p14="http://schemas.microsoft.com/office/powerpoint/2010/main" val="33227091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685800" y="1104220"/>
            <a:ext cx="7772400" cy="604265"/>
          </a:xfrm>
        </p:spPr>
        <p:txBody>
          <a:bodyPr>
            <a:noAutofit/>
          </a:bodyPr>
          <a:lstStyle/>
          <a:p>
            <a:r>
              <a:rPr lang="en-US" sz="3000" b="1" dirty="0">
                <a:latin typeface="Helvetica"/>
                <a:cs typeface="Helvetica"/>
              </a:rPr>
              <a:t>PRINCE DORMENYO 4 POSSA PREZ ‘22</a:t>
            </a:r>
          </a:p>
        </p:txBody>
      </p:sp>
      <p:sp>
        <p:nvSpPr>
          <p:cNvPr id="5" name="Subtitle 2"/>
          <p:cNvSpPr>
            <a:spLocks noGrp="1"/>
          </p:cNvSpPr>
          <p:nvPr>
            <p:ph type="subTitle" idx="1"/>
          </p:nvPr>
        </p:nvSpPr>
        <p:spPr>
          <a:xfrm>
            <a:off x="1371600" y="4412631"/>
            <a:ext cx="6400800" cy="1599330"/>
          </a:xfrm>
        </p:spPr>
        <p:txBody>
          <a:bodyPr>
            <a:normAutofit/>
          </a:bodyPr>
          <a:lstStyle/>
          <a:p>
            <a:pPr algn="ctr"/>
            <a:endParaRPr lang="en-US" b="1" dirty="0">
              <a:latin typeface="Helvetica"/>
              <a:cs typeface="Helvetica"/>
            </a:endParaRPr>
          </a:p>
          <a:p>
            <a:pPr algn="ctr"/>
            <a:endParaRPr lang="en-US" sz="2400" b="1" dirty="0">
              <a:latin typeface="Helvetica"/>
              <a:cs typeface="Helvetica"/>
            </a:endParaRPr>
          </a:p>
        </p:txBody>
      </p:sp>
      <p:pic>
        <p:nvPicPr>
          <p:cNvPr id="3" name="Picture 2">
            <a:extLst>
              <a:ext uri="{FF2B5EF4-FFF2-40B4-BE49-F238E27FC236}">
                <a16:creationId xmlns:a16="http://schemas.microsoft.com/office/drawing/2014/main" id="{FC2BF0FD-DFBB-457E-A306-E35F97CC9FF2}"/>
              </a:ext>
            </a:extLst>
          </p:cNvPr>
          <p:cNvPicPr>
            <a:picLocks noChangeAspect="1"/>
          </p:cNvPicPr>
          <p:nvPr/>
        </p:nvPicPr>
        <p:blipFill>
          <a:blip r:embed="rId2"/>
          <a:stretch>
            <a:fillRect/>
          </a:stretch>
        </p:blipFill>
        <p:spPr>
          <a:xfrm>
            <a:off x="2322925" y="1727276"/>
            <a:ext cx="4498150" cy="5130724"/>
          </a:xfrm>
          <a:prstGeom prst="rect">
            <a:avLst/>
          </a:prstGeom>
        </p:spPr>
      </p:pic>
    </p:spTree>
    <p:extLst>
      <p:ext uri="{BB962C8B-B14F-4D97-AF65-F5344CB8AC3E}">
        <p14:creationId xmlns:p14="http://schemas.microsoft.com/office/powerpoint/2010/main" val="39367097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16688</TotalTime>
  <Words>1132</Words>
  <Application>Microsoft Office PowerPoint</Application>
  <PresentationFormat>On-screen Show (4:3)</PresentationFormat>
  <Paragraphs>84</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Helvetica</vt:lpstr>
      <vt:lpstr>Times New Roman</vt:lpstr>
      <vt:lpstr>Office Theme</vt:lpstr>
      <vt:lpstr>PowerPoint Presentation</vt:lpstr>
      <vt:lpstr>What is a Memorandum?</vt:lpstr>
      <vt:lpstr>Memorandum Versus Formal Letter</vt:lpstr>
      <vt:lpstr>Cont. </vt:lpstr>
      <vt:lpstr>Types</vt:lpstr>
      <vt:lpstr>Cont.</vt:lpstr>
      <vt:lpstr>PRINCE DORMENYO 4 POSSA PREZ ‘22</vt:lpstr>
      <vt:lpstr>PowerPoint Presentation</vt:lpstr>
      <vt:lpstr>The Semi-formal Memorandum  The semi-formal memorandum is a communication between equals, between an administrator and his subordinate or between a subordinate and an immediate boss between whom there is not much difference in status or rank.   The semi-formal memorandum, like the informal one, is also concerned with day-to-day activities of the organization. It contains a well discussed or fully presented subject. It does not contain snippets of directives or information. Unlike the informal ones, the semi-formal ones are filed. These memoranda usually follow the three-part structure (introduction, body, conclusion).   The language of this form of memorandum is simple, everyday vocabulary construction except in instances when the nature of the subject demands specialized vocabulary. Even when this happens, it is believed that the workers understand it. Below is an example of a semi-formal memorandum culled from Sekyi-Baidoo (2003).   </vt:lpstr>
      <vt:lpstr>PowerPoint Presentation</vt:lpstr>
      <vt:lpstr>The Formal or Policy Memorandum</vt:lpstr>
      <vt:lpstr>Cont. </vt:lpstr>
      <vt:lpstr>PowerPoint Presentation</vt:lpstr>
      <vt:lpstr>PowerPoint Presentation</vt:lpstr>
      <vt:lpstr>Structure of a Memorandum</vt:lpstr>
      <vt:lpstr>Cont.</vt:lpstr>
      <vt:lpstr>Cont. </vt:lpstr>
      <vt:lpstr>Uses of a Memorandum</vt:lpstr>
      <vt:lpstr>Types of Modern Communication</vt:lpstr>
      <vt:lpstr>Assignment</vt:lpstr>
      <vt:lpstr>PRINCE DORMENYO 4 POSSA PREZ ‘22</vt:lpstr>
    </vt:vector>
  </TitlesOfParts>
  <Company>UPK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KNUST Press</dc:creator>
  <cp:lastModifiedBy>Fadulillah Muhammad Amin</cp:lastModifiedBy>
  <cp:revision>263</cp:revision>
  <cp:lastPrinted>2017-05-31T15:05:24Z</cp:lastPrinted>
  <dcterms:created xsi:type="dcterms:W3CDTF">2016-11-07T15:28:41Z</dcterms:created>
  <dcterms:modified xsi:type="dcterms:W3CDTF">2022-08-22T16:21:58Z</dcterms:modified>
</cp:coreProperties>
</file>